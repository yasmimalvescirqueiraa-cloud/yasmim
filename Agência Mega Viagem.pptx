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1617" userDrawn="1">
          <p15:clr>
            <a:srgbClr val="A4A3A4"/>
          </p15:clr>
        </p15:guide>
        <p15:guide id="3" pos="7242" userDrawn="1">
          <p15:clr>
            <a:srgbClr val="A4A3A4"/>
          </p15:clr>
        </p15:guide>
        <p15:guide id="4" orient="horz" pos="1207" userDrawn="1">
          <p15:clr>
            <a:srgbClr val="A4A3A4"/>
          </p15:clr>
        </p15:guide>
        <p15:guide id="5" orient="horz" pos="1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E6AF00"/>
    <a:srgbClr val="FFC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948"/>
      </p:cViewPr>
      <p:guideLst>
        <p:guide orient="horz" pos="414"/>
        <p:guide pos="1617"/>
        <p:guide pos="7242"/>
        <p:guide orient="horz" pos="1207"/>
        <p:guide orient="horz" pos="1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5" y="2514601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5" y="4777383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2" y="4323814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4529544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36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32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46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5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32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61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60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0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9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5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63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78" indent="0">
              <a:buNone/>
              <a:defRPr sz="1600"/>
            </a:lvl2pPr>
            <a:lvl3pPr marL="914354" indent="0">
              <a:buNone/>
              <a:defRPr sz="1600"/>
            </a:lvl3pPr>
            <a:lvl4pPr marL="1371532" indent="0">
              <a:buNone/>
              <a:defRPr sz="1600"/>
            </a:lvl4pPr>
            <a:lvl5pPr marL="1828709" indent="0">
              <a:buNone/>
              <a:defRPr sz="1600"/>
            </a:lvl5pPr>
            <a:lvl6pPr marL="2285886" indent="0">
              <a:buNone/>
              <a:defRPr sz="1600"/>
            </a:lvl6pPr>
            <a:lvl7pPr marL="2743062" indent="0">
              <a:buNone/>
              <a:defRPr sz="1600"/>
            </a:lvl7pPr>
            <a:lvl8pPr marL="3200240" indent="0">
              <a:buNone/>
              <a:defRPr sz="1600"/>
            </a:lvl8pPr>
            <a:lvl9pPr marL="3657418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504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95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3" y="35052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78" indent="0">
              <a:buFontTx/>
              <a:buNone/>
              <a:defRPr/>
            </a:lvl2pPr>
            <a:lvl3pPr marL="914354" indent="0">
              <a:buFontTx/>
              <a:buNone/>
              <a:defRPr/>
            </a:lvl3pPr>
            <a:lvl4pPr marL="1371532" indent="0">
              <a:buFontTx/>
              <a:buNone/>
              <a:defRPr/>
            </a:lvl4pPr>
            <a:lvl5pPr marL="1828709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489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3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150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78" indent="0">
              <a:buFontTx/>
              <a:buNone/>
              <a:defRPr/>
            </a:lvl2pPr>
            <a:lvl3pPr marL="914354" indent="0">
              <a:buFontTx/>
              <a:buNone/>
              <a:defRPr/>
            </a:lvl3pPr>
            <a:lvl4pPr marL="1371532" indent="0">
              <a:buFontTx/>
              <a:buNone/>
              <a:defRPr/>
            </a:lvl4pPr>
            <a:lvl5pPr marL="1828709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636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78" indent="0">
              <a:buFontTx/>
              <a:buNone/>
              <a:defRPr/>
            </a:lvl2pPr>
            <a:lvl3pPr marL="914354" indent="0">
              <a:buFontTx/>
              <a:buNone/>
              <a:defRPr/>
            </a:lvl3pPr>
            <a:lvl4pPr marL="1371532" indent="0">
              <a:buFontTx/>
              <a:buNone/>
              <a:defRPr/>
            </a:lvl4pPr>
            <a:lvl5pPr marL="1828709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290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475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26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5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2CC29-4024-44F6-9FB1-4D914D743B71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5" y="787785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722E3C4-A303-4907-910C-7CE421348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8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178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82" indent="-342882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13" indent="-285737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sv/galapagos%C3%B6arna-galapagos-vulkanisk-2419239/" TargetMode="External"/><Relationship Id="rId13" Type="http://schemas.openxmlformats.org/officeDocument/2006/relationships/hyperlink" Target="https://thelaurisblog.blogspot.com/2017/10/rutas-por-asia.html" TargetMode="External"/><Relationship Id="rId3" Type="http://schemas.openxmlformats.org/officeDocument/2006/relationships/hyperlink" Target="https://pxhere.com/id/photo/940585" TargetMode="External"/><Relationship Id="rId7" Type="http://schemas.openxmlformats.org/officeDocument/2006/relationships/image" Target="../media/image3.jpg"/><Relationship Id="rId12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lickr.com/photos/dhilung/3748643831" TargetMode="External"/><Relationship Id="rId11" Type="http://schemas.openxmlformats.org/officeDocument/2006/relationships/hyperlink" Target="https://www.publicdomainpictures.net/en/view-image.php?image=92934&amp;picture=daytona-beach-florida-pier" TargetMode="External"/><Relationship Id="rId5" Type="http://schemas.microsoft.com/office/2007/relationships/hdphoto" Target="../media/hdphoto1.wdp"/><Relationship Id="rId15" Type="http://schemas.openxmlformats.org/officeDocument/2006/relationships/hyperlink" Target="https://esmiperu.blogspot.com/2010/10/turismo-rural-comunitario-en-el-peru.html" TargetMode="External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Q3G3XXAN3jE?feature=oembed" TargetMode="Externa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3B0F1-AC0A-CE2E-15EB-DE6F16EDB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6988" y="-529388"/>
            <a:ext cx="8915399" cy="2445502"/>
          </a:xfrm>
        </p:spPr>
        <p:txBody>
          <a:bodyPr/>
          <a:lstStyle/>
          <a:p>
            <a:pPr algn="r"/>
            <a:r>
              <a:rPr lang="pt-BR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Agência</a:t>
            </a:r>
            <a:r>
              <a:rPr lang="pt-BR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Mega Viagem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783EE1-95EA-6808-0F9C-4B954F305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5" y="1916115"/>
            <a:ext cx="8915399" cy="865185"/>
          </a:xfrm>
        </p:spPr>
        <p:txBody>
          <a:bodyPr/>
          <a:lstStyle/>
          <a:p>
            <a:pPr algn="r"/>
            <a:r>
              <a:rPr lang="pt-BR" i="1" dirty="0">
                <a:solidFill>
                  <a:schemeClr val="accent2">
                    <a:lumMod val="50000"/>
                  </a:schemeClr>
                </a:solidFill>
              </a:rPr>
              <a:t>A melhor de São Paulo</a:t>
            </a:r>
          </a:p>
          <a:p>
            <a:pPr algn="r"/>
            <a:r>
              <a:rPr lang="pt-BR" i="1" dirty="0">
                <a:solidFill>
                  <a:schemeClr val="accent2">
                    <a:lumMod val="50000"/>
                  </a:schemeClr>
                </a:solidFill>
              </a:rPr>
              <a:t>Conforto, ofertas e tradições</a:t>
            </a:r>
          </a:p>
        </p:txBody>
      </p:sp>
    </p:spTree>
    <p:extLst>
      <p:ext uri="{BB962C8B-B14F-4D97-AF65-F5344CB8AC3E}">
        <p14:creationId xmlns:p14="http://schemas.microsoft.com/office/powerpoint/2010/main" val="13333144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 advTm="6000">
        <p15:prstTrans prst="origami"/>
      </p:transition>
    </mc:Choice>
    <mc:Fallback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D63E1D8-DC46-205F-1F28-997F6696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PACOTE AVENTURAS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313CFF1-04B3-8F71-6DA2-876F0123F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Peru – 10 x de R$ 437,99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Antártica – 10 x R$ 1.329,99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Flórida – 10 x R$ 999,00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Nepal – 10 x R$ 267,00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Japão -10 x R$ 1.197,00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</a:t>
            </a:r>
            <a:r>
              <a:rPr lang="pt-BR" dirty="0"/>
              <a:t>Adventure Galápagos – 10 x R$ 1.359,00</a:t>
            </a:r>
          </a:p>
        </p:txBody>
      </p:sp>
    </p:spTree>
    <p:extLst>
      <p:ext uri="{BB962C8B-B14F-4D97-AF65-F5344CB8AC3E}">
        <p14:creationId xmlns:p14="http://schemas.microsoft.com/office/powerpoint/2010/main" val="3903019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2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E075EEB-92C2-0870-6E45-A6D390A34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9659" y="258301"/>
            <a:ext cx="3764548" cy="28234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accent1">
                <a:lumMod val="40000"/>
                <a:lumOff val="60000"/>
              </a:schemeClr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2CED260-6E28-D065-D34F-DBBC0B522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 rot="712540">
            <a:off x="4620257" y="363057"/>
            <a:ext cx="3685915" cy="28234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7BD956C-F54B-79BB-559C-0308247B7C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rot="20318685">
            <a:off x="7907345" y="223269"/>
            <a:ext cx="3962259" cy="264357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1639C09-37E1-AE6E-496E-FE07274C845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 rot="20934704">
            <a:off x="7734254" y="3429001"/>
            <a:ext cx="3928551" cy="2664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0156409-E6DC-F173-03AF-41DC4A4423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 rot="662779">
            <a:off x="3733793" y="3394614"/>
            <a:ext cx="4261155" cy="28230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181B86-535C-51D4-6827-D88F5F3442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 rot="21199017">
            <a:off x="625643" y="3294273"/>
            <a:ext cx="3818023" cy="2529440"/>
          </a:xfrm>
          <a:prstGeom prst="rect">
            <a:avLst/>
          </a:prstGeom>
          <a:ln>
            <a:noFill/>
          </a:ln>
          <a:effectLst>
            <a:reflection blurRad="6350" stA="50000" endA="295" endPos="92000" dist="1016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403562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C3C34-1E61-EA6A-17D5-95622DD6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 NUPCIAL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5C7DAB4-6AC6-1F6E-1508-34EE55A4C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972703"/>
            <a:ext cx="4342895" cy="576262"/>
          </a:xfrm>
        </p:spPr>
        <p:txBody>
          <a:bodyPr>
            <a:normAutofit fontScale="85000" lnSpcReduction="10000"/>
          </a:bodyPr>
          <a:lstStyle/>
          <a:p>
            <a:r>
              <a:rPr lang="pt-BR" sz="3200" dirty="0"/>
              <a:t>Pacote Núpcias Luxo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09ADC-5802-03EE-2929-8C24851C2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89212" y="2775284"/>
            <a:ext cx="4342893" cy="4082716"/>
          </a:xfrm>
        </p:spPr>
        <p:txBody>
          <a:bodyPr>
            <a:normAutofit fontScale="92500" lnSpcReduction="20000"/>
          </a:bodyPr>
          <a:lstStyle/>
          <a:p>
            <a:pPr marL="514326" indent="-514326">
              <a:buFont typeface="+mj-lt"/>
              <a:buAutoNum type="arabicPeriod"/>
            </a:pPr>
            <a:r>
              <a:rPr lang="pt-BR" sz="1300" dirty="0"/>
              <a:t>Champanhe Salton Brut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Cesta com Frutas da época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Flores decorando o quarto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Bombons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Café da manhã servido no restaurante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Roupa de cama diferenciadas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5 Travesseiros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Roupões e chinelos para uso durante a hospedagem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Check-in antecipado a partir das 12:00 . Late Check-out ou até as 19:00 horas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Pagamento Antecipado (no valor total do pacote) ou parcelado em 5 vezes no cartão de crédito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Buquê de Rosas</a:t>
            </a:r>
          </a:p>
          <a:p>
            <a:pPr marL="514326" indent="-514326">
              <a:buFont typeface="+mj-lt"/>
              <a:buAutoNum type="arabicPeriod"/>
            </a:pPr>
            <a:r>
              <a:rPr lang="pt-BR" sz="1300" dirty="0"/>
              <a:t>Estacionamento incluso durante a hospedagem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5266F58-299D-24D9-B73D-1B205872B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sz="3200" dirty="0"/>
              <a:t>Pacote Núpcias Prata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32526F1-205F-3B0B-9957-07B129018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65939" y="2775284"/>
            <a:ext cx="4338675" cy="4082716"/>
          </a:xfrm>
        </p:spPr>
        <p:txBody>
          <a:bodyPr>
            <a:normAutofit fontScale="92500" lnSpcReduction="20000"/>
          </a:bodyPr>
          <a:lstStyle/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Champanhe Salton Brut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Morangos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Flores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Café da Manhã no restaurante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5 Travesseiros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Estacionamento Incluso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Check-in antecipado a partir das 12:00.Late Ckeck-out até 19:00h</a:t>
            </a:r>
          </a:p>
          <a:p>
            <a:pPr marL="514326" indent="-514326">
              <a:lnSpc>
                <a:spcPct val="160000"/>
              </a:lnSpc>
              <a:buFont typeface="+mj-lt"/>
              <a:buAutoNum type="arabicPeriod"/>
            </a:pPr>
            <a:r>
              <a:rPr lang="pt-BR" sz="1300" dirty="0"/>
              <a:t>Pagamento antecipado ( no valor total do pacote) ou parcelado em 5 vezes no cartão de credito</a:t>
            </a:r>
          </a:p>
        </p:txBody>
      </p:sp>
    </p:spTree>
    <p:extLst>
      <p:ext uri="{BB962C8B-B14F-4D97-AF65-F5344CB8AC3E}">
        <p14:creationId xmlns:p14="http://schemas.microsoft.com/office/powerpoint/2010/main" val="1924705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2000"/>
                            </p:stCondLst>
                            <p:childTnLst>
                              <p:par>
                                <p:cTn id="9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3000"/>
                            </p:stCondLst>
                            <p:childTnLst>
                              <p:par>
                                <p:cTn id="9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C372968-04BD-7C79-6DF3-DF5CEDE2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PACOTES PROMOCIONAIS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614F7CD-50A2-7CF9-7F08-58D9DC5C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Paulo – Rio de Janeiro – 10 x de R$ 84,00</a:t>
            </a:r>
          </a:p>
          <a:p>
            <a:r>
              <a:rPr lang="pt-BR" dirty="0"/>
              <a:t>São Paulo – Fortaleza – 10 x de R $189,00</a:t>
            </a:r>
          </a:p>
          <a:p>
            <a:r>
              <a:rPr lang="pt-BR" dirty="0"/>
              <a:t>São Paulo - Gramado – 10 x de R$ 119,00</a:t>
            </a:r>
          </a:p>
          <a:p>
            <a:r>
              <a:rPr lang="pt-BR" dirty="0"/>
              <a:t>São Paulo - Salvador – 10 x de R$ 69,00</a:t>
            </a:r>
          </a:p>
          <a:p>
            <a:r>
              <a:rPr lang="pt-BR" dirty="0"/>
              <a:t>São Paulo - Aracaju – 10 x de R$89,00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3912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5323F28-5881-CF2E-ABB9-3284762D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5" y="620713"/>
            <a:ext cx="3505199" cy="1295399"/>
          </a:xfrm>
        </p:spPr>
        <p:txBody>
          <a:bodyPr/>
          <a:lstStyle/>
          <a:p>
            <a:r>
              <a:rPr lang="pt-BR" dirty="0"/>
              <a:t>Carnaval em Balneário Camboriú - SC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DC6B35A-9171-B3F7-8E00-FCAA0A9F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012" y="620713"/>
            <a:ext cx="5181600" cy="5240342"/>
          </a:xfrm>
        </p:spPr>
        <p:txBody>
          <a:bodyPr>
            <a:normAutofit fontScale="92500" lnSpcReduction="20000"/>
          </a:bodyPr>
          <a:lstStyle/>
          <a:p>
            <a:r>
              <a:rPr lang="pt-BR" sz="3000" b="1" dirty="0"/>
              <a:t>Transporte em ônibus especial para turismo;</a:t>
            </a:r>
          </a:p>
          <a:p>
            <a:r>
              <a:rPr lang="pt-BR" sz="3000" b="1" dirty="0"/>
              <a:t>Serviço de bordo;</a:t>
            </a:r>
          </a:p>
          <a:p>
            <a:r>
              <a:rPr lang="pt-BR" sz="3000" b="1" dirty="0"/>
              <a:t>Guia Acompanhante;</a:t>
            </a:r>
          </a:p>
          <a:p>
            <a:r>
              <a:rPr lang="pt-BR" sz="3000" b="1" dirty="0"/>
              <a:t>Hospedagem no Hotel Solário (2 quadras da praia);</a:t>
            </a:r>
          </a:p>
          <a:p>
            <a:r>
              <a:rPr lang="pt-BR" sz="3000" b="1" dirty="0"/>
              <a:t>Meia Pensão</a:t>
            </a:r>
          </a:p>
          <a:p>
            <a:r>
              <a:rPr lang="pt-BR" sz="3000" b="1" dirty="0"/>
              <a:t>Passeios opcionais:</a:t>
            </a:r>
          </a:p>
          <a:p>
            <a:r>
              <a:rPr lang="pt-BR" sz="3000" b="1" dirty="0"/>
              <a:t>Escuna Pirata</a:t>
            </a:r>
          </a:p>
          <a:p>
            <a:r>
              <a:rPr lang="pt-BR" sz="3000" b="1" dirty="0"/>
              <a:t>Teleférico Unipraias </a:t>
            </a:r>
          </a:p>
          <a:p>
            <a:r>
              <a:rPr lang="pt-BR" sz="3000" b="1" dirty="0"/>
              <a:t>Cristo Luz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4853DF4-9943-3330-D0C5-6A0B8D9FC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5" y="1916113"/>
            <a:ext cx="3505199" cy="3944936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Balneário Camboriú é um município da Região Metropolitana da Foz do Rio Itajaí, no litoral norte do estado de Santa Catarina, no Brasil.</a:t>
            </a:r>
          </a:p>
          <a:p>
            <a:pPr algn="just"/>
            <a:r>
              <a:rPr lang="pt-BR" dirty="0"/>
              <a:t>Saídas todas as quinas feiras do mês de fevereiro</a:t>
            </a:r>
          </a:p>
        </p:txBody>
      </p:sp>
    </p:spTree>
    <p:extLst>
      <p:ext uri="{BB962C8B-B14F-4D97-AF65-F5344CB8AC3E}">
        <p14:creationId xmlns:p14="http://schemas.microsoft.com/office/powerpoint/2010/main" val="767767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ídia Online 1" title="Expedicão Amazônia Teaser - Imersão na Floresta Amazônica - 4k">
            <a:hlinkClick r:id="" action="ppaction://media"/>
            <a:extLst>
              <a:ext uri="{FF2B5EF4-FFF2-40B4-BE49-F238E27FC236}">
                <a16:creationId xmlns:a16="http://schemas.microsoft.com/office/drawing/2014/main" id="{F4BC4FBA-B7B0-2A86-D34B-1E6B6A0A0A2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36821" y="1022558"/>
            <a:ext cx="8518358" cy="481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8495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FFD8DD-48E2-A1B6-DD9E-CFDFEBE0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58084" y="2711021"/>
            <a:ext cx="7741180" cy="1709535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dirty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Agência Mega</a:t>
            </a:r>
            <a:br>
              <a:rPr lang="pt-BR" sz="6000" dirty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BR" sz="6000" dirty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Viagem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D77414-BAAB-1B09-A216-168EB9D16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7274" y="3644347"/>
            <a:ext cx="8350592" cy="785937"/>
          </a:xfrm>
        </p:spPr>
        <p:txBody>
          <a:bodyPr>
            <a:normAutofit/>
          </a:bodyPr>
          <a:lstStyle/>
          <a:p>
            <a:pPr algn="ctr"/>
            <a:r>
              <a:rPr lang="pt-BR" sz="2400" i="1" dirty="0">
                <a:solidFill>
                  <a:srgbClr val="AC8300"/>
                </a:solidFill>
              </a:rPr>
              <a:t>Sempre um novo local. Sempre uma boa viagem</a:t>
            </a:r>
          </a:p>
        </p:txBody>
      </p:sp>
    </p:spTree>
    <p:extLst>
      <p:ext uri="{BB962C8B-B14F-4D97-AF65-F5344CB8AC3E}">
        <p14:creationId xmlns:p14="http://schemas.microsoft.com/office/powerpoint/2010/main" val="40744435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2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theme/theme1.xml><?xml version="1.0" encoding="utf-8"?>
<a:theme xmlns:a="http://schemas.openxmlformats.org/drawingml/2006/main" name="Cacho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</TotalTime>
  <Words>342</Words>
  <Application>Microsoft Office PowerPoint</Application>
  <PresentationFormat>Widescreen</PresentationFormat>
  <Paragraphs>53</Paragraphs>
  <Slides>8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Verdana</vt:lpstr>
      <vt:lpstr>Wingdings</vt:lpstr>
      <vt:lpstr>Wingdings 3</vt:lpstr>
      <vt:lpstr>Cacho</vt:lpstr>
      <vt:lpstr>Agência Mega Viagem</vt:lpstr>
      <vt:lpstr>PACOTE AVENTURAS</vt:lpstr>
      <vt:lpstr>Apresentação do PowerPoint</vt:lpstr>
      <vt:lpstr>PACOTE NUPCIAL</vt:lpstr>
      <vt:lpstr>PACOTES PROMOCIONAIS</vt:lpstr>
      <vt:lpstr>Carnaval em Balneário Camboriú - SC</vt:lpstr>
      <vt:lpstr>Apresentação do PowerPoint</vt:lpstr>
      <vt:lpstr>Agência Mega Viagem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 Local</dc:creator>
  <cp:lastModifiedBy>Usuário Local</cp:lastModifiedBy>
  <cp:revision>1</cp:revision>
  <dcterms:created xsi:type="dcterms:W3CDTF">2026-04-01T16:30:48Z</dcterms:created>
  <dcterms:modified xsi:type="dcterms:W3CDTF">2026-04-01T19:26:55Z</dcterms:modified>
</cp:coreProperties>
</file>